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embeddedFontLst>
    <p:embeddedFont>
      <p:font typeface="Fraunces"/>
      <p:regular r:id="rId17"/>
      <p:bold r:id="rId18"/>
    </p:embeddedFont>
    <p:embeddedFont>
      <p:font typeface="Space Grotesk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476500"/>
            <a:ext cx="10668000" cy="952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 u="none">
                <a:solidFill>
                  <a:srgbClr val="F1F2F4"/>
                </a:solidFill>
                <a:latin typeface="Fraunces"/>
              </a:rPr>
              <a:t>SECURE THE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19500"/>
            <a:ext cx="76200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AEB4BC"/>
                </a:solidFill>
                <a:latin typeface="Space Grotesk"/>
              </a:rPr>
              <a:t>Vulnerability Assessment Report — Nimbus Retail Co.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F1F2F4"/>
                </a:solidFill>
                <a:latin typeface="Fraunce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95500"/>
            <a:ext cx="5080000" cy="361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AEB4BC"/>
                </a:solidFill>
                <a:latin typeface="Space Grotesk"/>
              </a:rPr>
              <a:t>Posture: High-to-Critical risk exposure identified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AEB4BC"/>
                </a:solidFill>
                <a:latin typeface="Space Grotesk"/>
              </a:rPr>
              <a:t>Critical: vsFTPd 2.3.4 backdoor, Samba RCE flaw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AEB4BC"/>
                </a:solidFill>
                <a:latin typeface="Space Grotesk"/>
              </a:rPr>
              <a:t>High: Outdated Unreal IRC, distccd services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AEB4BC"/>
                </a:solidFill>
                <a:latin typeface="Space Grotesk"/>
              </a:rPr>
              <a:t>Risk 1: Unauthorized access to customer/payment data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AEB4BC"/>
                </a:solidFill>
                <a:latin typeface="Space Grotesk"/>
              </a:rPr>
              <a:t>Risk 2: Service disruption and revenue impact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AEB4BC"/>
                </a:solidFill>
                <a:latin typeface="Space Grotesk"/>
              </a:rPr>
              <a:t>Risk 3: Reputational damage and regulatory exposure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2095500"/>
            <a:ext cx="50800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43000"/>
            <a:ext cx="4724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400" y="2476500"/>
            <a:ext cx="51816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1F2F4"/>
                </a:solidFill>
                <a:latin typeface="Fraunces"/>
              </a:rPr>
              <a:t>Scope &amp;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3492500"/>
            <a:ext cx="51816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AEB4BC"/>
                </a:solidFill>
                <a:latin typeface="Space Grotesk"/>
              </a:rPr>
              <a:t>Targets: hackthissite.org (OSINT) &amp; Metasploitable 2 (Lab).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AEB4BC"/>
                </a:solidFill>
                <a:latin typeface="Space Grotesk"/>
              </a:rPr>
              <a:t>5-Phase approach: 1) Foundations (CIA, Architecture) 2) Recon (OSINT, Subdomains) 3) Enumeration &amp; Scanning (Nmap) 4) Vulnerability Assessment (CVE/CVSS) 5)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F1F2F4"/>
                </a:solidFill>
                <a:latin typeface="Fraunces"/>
              </a:rPr>
              <a:t>Phase 1: Network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95500"/>
            <a:ext cx="10668000" cy="3619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AEB4BC"/>
                </a:solidFill>
                <a:latin typeface="Space Grotesk"/>
              </a:rPr>
              <a:t>DMZ (192.168.10.0/24): Internet-facing systems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AEB4BC"/>
                </a:solidFill>
                <a:latin typeface="Space Grotesk"/>
              </a:rPr>
              <a:t>Internal (192.168.20.0/24): DB and workstations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AEB4BC"/>
                </a:solidFill>
                <a:latin typeface="Space Grotesk"/>
              </a:rPr>
              <a:t>Firewall: Default-deny inbound policy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AEB4BC"/>
                </a:solidFill>
                <a:latin typeface="Space Grotesk"/>
              </a:rPr>
              <a:t>Access Control: Role-based, MFA, separation of duties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AEB4BC"/>
                </a:solidFill>
                <a:latin typeface="Space Grotesk"/>
              </a:rPr>
              <a:t>Principle of Least Privilege applied throughout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59000"/>
            <a:ext cx="10668000" cy="63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2000" y="3429000"/>
            <a:ext cx="10668000" cy="12700"/>
          </a:xfrm>
          <a:prstGeom prst="rect">
            <a:avLst/>
          </a:prstGeom>
          <a:solidFill>
            <a:srgbClr val="21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064000"/>
            <a:ext cx="10668000" cy="12700"/>
          </a:xfrm>
          <a:prstGeom prst="rect">
            <a:avLst/>
          </a:prstGeom>
          <a:solidFill>
            <a:srgbClr val="21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699000"/>
            <a:ext cx="10668000" cy="12700"/>
          </a:xfrm>
          <a:prstGeom prst="rect">
            <a:avLst/>
          </a:prstGeom>
          <a:solidFill>
            <a:srgbClr val="21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F1F2F4"/>
                </a:solidFill>
                <a:latin typeface="Fraunces"/>
              </a:rPr>
              <a:t>Nmap Scan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317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F1F2F4"/>
                </a:solidFill>
                <a:latin typeface="Fraunces"/>
              </a:rPr>
              <a:t>Scan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952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SYN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587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Connect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22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Version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17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F1F2F4"/>
                </a:solidFill>
                <a:latin typeface="Fraunces"/>
              </a:rPr>
              <a:t>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52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Fast, stealthy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87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Slower, full handshake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22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Slowest, deep probe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0" y="2317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F1F2F4"/>
                </a:solidFill>
                <a:latin typeface="Fraunces"/>
              </a:rPr>
              <a:t>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0" y="2952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Ports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3587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Ports +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222750"/>
            <a:ext cx="3048000" cy="317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Ports, versions, banners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F1F2F4"/>
                </a:solidFill>
                <a:latin typeface="Fraunces"/>
              </a:rPr>
              <a:t>Critical CVEs by CVSS Score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106680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F1F2F4"/>
                </a:solidFill>
                <a:latin typeface="Fraunces"/>
              </a:rPr>
              <a:t>Remediation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95500"/>
            <a:ext cx="10668000" cy="3619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AEB4BC"/>
                </a:solidFill>
                <a:latin typeface="Space Grotesk"/>
              </a:rPr>
              <a:t>vsFTPd: Patch/upgrade, remove backdoored binary — Critical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AEB4BC"/>
                </a:solidFill>
                <a:latin typeface="Space Grotesk"/>
              </a:rPr>
              <a:t>Samba: Patch, disable usermap_script — Critical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AEB4BC"/>
                </a:solidFill>
                <a:latin typeface="Space Grotesk"/>
              </a:rPr>
              <a:t>UnrealIRCd: Replace service entirely — Critical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AEB4BC"/>
                </a:solidFill>
                <a:latin typeface="Space Grotesk"/>
              </a:rPr>
              <a:t>distccd: Disable or restrict to localhost — High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AEB4BC"/>
                </a:solidFill>
                <a:latin typeface="Space Grotesk"/>
              </a:rPr>
              <a:t>TLS: Deploy HTTPS redirection and HSTS — Medium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413000"/>
            <a:ext cx="45720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u="none">
                <a:solidFill>
                  <a:srgbClr val="F1F2F4"/>
                </a:solidFill>
                <a:latin typeface="Fraunces"/>
              </a:rPr>
              <a:t>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302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AEB4BC"/>
                </a:solidFill>
                <a:latin typeface="Space Grotesk"/>
              </a:rPr>
              <a:t>Detect: monitor port 6200 and shell activity. Contain: isolate host, revoke credentials, block malicious IPs. Eradicate: remove persistence mechanisms, patch vsFTPd, sweep for IOCs. Recover: restore from clean backups and notify stakeholders promptly.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3528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095500"/>
            <a:ext cx="33528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095500"/>
            <a:ext cx="33528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F1F2F4"/>
                </a:solidFill>
                <a:latin typeface="Fraunces"/>
              </a:rPr>
              <a:t>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2476500"/>
            <a:ext cx="2794000" cy="444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F1F2F4"/>
                </a:solidFill>
                <a:latin typeface="Fraunces"/>
              </a:rPr>
              <a:t>Go-Live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3048000"/>
            <a:ext cx="2794000" cy="241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Critical vulnerabilities remain unresolved and are blocking for go-live approval. These must be remediated before Nimbus Retail Co. can proceed to production launch.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9000" y="2476500"/>
            <a:ext cx="2794000" cy="444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F1F2F4"/>
                </a:solidFill>
                <a:latin typeface="Fraunces"/>
              </a:rPr>
              <a:t>Remediation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9000" y="3048000"/>
            <a:ext cx="2794000" cy="241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Fixes are straightforward and fully vendor-supported, requiring no custom development. Final verification testing is required post-patching to confirm closure.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2476500"/>
            <a:ext cx="2794000" cy="444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F1F2F4"/>
                </a:solidFill>
                <a:latin typeface="Fraunces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600" y="3048000"/>
            <a:ext cx="2794000" cy="241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AEB4BC"/>
                </a:solidFill>
                <a:latin typeface="Space Grotesk"/>
              </a:rPr>
              <a:t>Maintain the current segmented DMZ network design, which has proven effective at containing exposure and limiting lateral movement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